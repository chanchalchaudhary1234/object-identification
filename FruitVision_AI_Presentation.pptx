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FruitVision AI detects and counts apples, bananas and oranges in images and videos.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counting is time-consuming. The project automates part of it. Mention it is a prototype / starting point for inventory, inspection and teaching.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The user uploads input, YOLO26n detects, results are filtered to three classes, counts are shown, and the result can be downloaded.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3.10. Runs on a normal laptop CPU: Core i3/i5, 8 GB RAM recommended, 2-5 GB storage. GPU and camera are optional.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Camera mode is a snapshot, not live streaming. Confidence threshold slider (default 0.25) is available in the sidebar.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the model is pretrained, not trained by us. YOLO was the project requirement; we did not benchmark against other detectors.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confidence score is not accuracy. We have not measured mAP on a labeled fruit test set, so do not quote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Admitting limitations clearly is a strength in a viva. This is a functional prototype, not a commercial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in one sentence and invite questions. Refer to the viva PDF for ready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2554F"/>
          </a:solidFill>
          <a:ln w="12700">
            <a:solidFill>
              <a:srgbClr val="F255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822960"/>
            <a:ext cx="2011680" cy="2011680"/>
          </a:xfrm>
          <a:prstGeom prst="ellipse">
            <a:avLst/>
          </a:prstGeom>
          <a:solidFill>
            <a:srgbClr val="4A35A6"/>
          </a:solidFill>
          <a:ln w="12700">
            <a:solidFill>
              <a:srgbClr val="4A35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03720" y="1234440"/>
            <a:ext cx="1005840" cy="1280160"/>
          </a:xfrm>
          <a:prstGeom prst="ellipse">
            <a:avLst/>
          </a:prstGeom>
          <a:solidFill>
            <a:srgbClr val="F2554F"/>
          </a:solidFill>
          <a:ln w="12700">
            <a:solidFill>
              <a:srgbClr val="F255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69480" y="1234440"/>
            <a:ext cx="1005840" cy="1280160"/>
          </a:xfrm>
          <a:prstGeom prst="ellipse">
            <a:avLst/>
          </a:prstGeom>
          <a:solidFill>
            <a:srgbClr val="F2554F"/>
          </a:solidFill>
          <a:ln w="12700">
            <a:solidFill>
              <a:srgbClr val="F255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60920" y="960120"/>
            <a:ext cx="548640" cy="274320"/>
          </a:xfrm>
          <a:prstGeom prst="ellipse">
            <a:avLst/>
          </a:prstGeom>
          <a:solidFill>
            <a:srgbClr val="3FBF8A"/>
          </a:solidFill>
          <a:ln w="12700">
            <a:solidFill>
              <a:srgbClr val="3FB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0972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C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 ·  OBJECT DETECTION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4630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FruitVision AI</a:t>
            </a:r>
            <a:endParaRPr lang="en-US" sz="5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AD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Detection and Counting System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200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YOLO26n  •  Streamlit  •  OpenCV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2554F"/>
          </a:solidFill>
          <a:ln w="12700">
            <a:solidFill>
              <a:srgbClr val="F255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5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objective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FruitVision AI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5D1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64008" cy="457200"/>
          </a:xfrm>
          <a:prstGeom prst="rect">
            <a:avLst/>
          </a:prstGeom>
          <a:solidFill>
            <a:srgbClr val="F2554F"/>
          </a:solidFill>
          <a:ln w="12700">
            <a:solidFill>
              <a:srgbClr val="F255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3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901952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fruit by hand is slow and repetitive, especially when an image or video has many fruits. Automating it saves time and gives a quick first count.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4A35A6"/>
          </a:solidFill>
          <a:ln w="12700">
            <a:solidFill>
              <a:srgbClr val="4A35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83480" y="1508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196596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selected fruit classes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bounding boxes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fruits class-wise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images and videos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upload-and-view interface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2554F"/>
          </a:solidFill>
          <a:ln w="12700">
            <a:solidFill>
              <a:srgbClr val="F255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5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FruitVision AI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463040" cy="2286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1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828800"/>
            <a:ext cx="548640" cy="548640"/>
          </a:xfrm>
          <a:prstGeom prst="ellipse">
            <a:avLst/>
          </a:prstGeom>
          <a:solidFill>
            <a:srgbClr val="F2554F"/>
          </a:solidFill>
          <a:ln w="12700">
            <a:solidFill>
              <a:srgbClr val="F255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514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926080"/>
            <a:ext cx="1243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Image, video or camera snapshot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76272" y="1645920"/>
            <a:ext cx="1463040" cy="2286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1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33472" y="1828800"/>
            <a:ext cx="548640" cy="548640"/>
          </a:xfrm>
          <a:prstGeom prst="ellipse">
            <a:avLst/>
          </a:prstGeom>
          <a:solidFill>
            <a:srgbClr val="F2554F"/>
          </a:solidFill>
          <a:ln w="12700">
            <a:solidFill>
              <a:srgbClr val="F255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33472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267712" y="2514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286000" y="2926080"/>
            <a:ext cx="1243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YOLO26n inference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03904" y="1645920"/>
            <a:ext cx="1463040" cy="2286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1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61104" y="1828800"/>
            <a:ext cx="548640" cy="548640"/>
          </a:xfrm>
          <a:prstGeom prst="ellipse">
            <a:avLst/>
          </a:prstGeom>
          <a:solidFill>
            <a:srgbClr val="F2554F"/>
          </a:solidFill>
          <a:ln w="12700">
            <a:solidFill>
              <a:srgbClr val="F255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61104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895344" y="2514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913632" y="2926080"/>
            <a:ext cx="1243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Apple, banana, orange only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31536" y="1645920"/>
            <a:ext cx="1463040" cy="2286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1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88736" y="1828800"/>
            <a:ext cx="548640" cy="548640"/>
          </a:xfrm>
          <a:prstGeom prst="ellipse">
            <a:avLst/>
          </a:prstGeom>
          <a:solidFill>
            <a:srgbClr val="F2554F"/>
          </a:solidFill>
          <a:ln w="12700">
            <a:solidFill>
              <a:srgbClr val="F255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888736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522976" y="2514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541264" y="2926080"/>
            <a:ext cx="1243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drawn, counts per fruit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059168" y="1645920"/>
            <a:ext cx="1463040" cy="2286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1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16368" y="1828800"/>
            <a:ext cx="548640" cy="548640"/>
          </a:xfrm>
          <a:prstGeom prst="ellipse">
            <a:avLst/>
          </a:prstGeom>
          <a:solidFill>
            <a:srgbClr val="F2554F"/>
          </a:solidFill>
          <a:ln w="12700">
            <a:solidFill>
              <a:srgbClr val="F255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16368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150608" y="2514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168896" y="2926080"/>
            <a:ext cx="1243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image or video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2554F"/>
          </a:solidFill>
          <a:ln w="12700">
            <a:solidFill>
              <a:srgbClr val="F255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5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FruitVision AI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0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5D1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64008" cy="457200"/>
          </a:xfrm>
          <a:prstGeom prst="rect">
            <a:avLst/>
          </a:prstGeom>
          <a:solidFill>
            <a:srgbClr val="F2554F"/>
          </a:solidFill>
          <a:ln w="12700">
            <a:solidFill>
              <a:srgbClr val="F255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3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YOLO26n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901952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model for object detection (yolo26n.pt).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840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5D1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54480"/>
            <a:ext cx="64008" cy="457200"/>
          </a:xfrm>
          <a:prstGeom prst="rect">
            <a:avLst/>
          </a:prstGeom>
          <a:solidFill>
            <a:srgbClr val="3B6FD8"/>
          </a:solidFill>
          <a:ln w="12700">
            <a:solidFill>
              <a:srgbClr val="3B6F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8348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3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1901952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UI: uploads, slider, metrics, downloads.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3840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5D1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200400"/>
            <a:ext cx="64008" cy="457200"/>
          </a:xfrm>
          <a:prstGeom prst="rect">
            <a:avLst/>
          </a:prstGeom>
          <a:solidFill>
            <a:srgbClr val="4A35A6"/>
          </a:solidFill>
          <a:ln w="12700">
            <a:solidFill>
              <a:srgbClr val="4A35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154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3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547872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writes video frames, encodes images.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3840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5D1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3200400"/>
            <a:ext cx="64008" cy="457200"/>
          </a:xfrm>
          <a:prstGeom prst="rect">
            <a:avLst/>
          </a:prstGeom>
          <a:solidFill>
            <a:srgbClr val="F2554F"/>
          </a:solidFill>
          <a:ln w="12700">
            <a:solidFill>
              <a:srgbClr val="F255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83480" y="3154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3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+ NumPy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983480" y="3547872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images, convert to RGB arrays for the model.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2554F"/>
          </a:solidFill>
          <a:ln w="12700">
            <a:solidFill>
              <a:srgbClr val="F255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5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APP DOES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FruitVision AI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5D1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64008" cy="457200"/>
          </a:xfrm>
          <a:prstGeom prst="rect">
            <a:avLst/>
          </a:prstGeom>
          <a:solidFill>
            <a:srgbClr val="F2554F"/>
          </a:solidFill>
          <a:ln w="12700">
            <a:solidFill>
              <a:srgbClr val="F255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3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detection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901952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photo, see boxes and class-wise counts, download the annotated image.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5D1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554480"/>
            <a:ext cx="64008" cy="457200"/>
          </a:xfrm>
          <a:prstGeom prst="rect">
            <a:avLst/>
          </a:prstGeom>
          <a:solidFill>
            <a:srgbClr val="3B6FD8"/>
          </a:solidFill>
          <a:ln w="12700">
            <a:solidFill>
              <a:srgbClr val="3B6F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3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detection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1901952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frame is processed and saved as a processed MP4 with a progress bar.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5D1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554480"/>
            <a:ext cx="64008" cy="457200"/>
          </a:xfrm>
          <a:prstGeom prst="rect">
            <a:avLst/>
          </a:prstGeom>
          <a:solidFill>
            <a:srgbClr val="4A35A6"/>
          </a:solidFill>
          <a:ln w="12700">
            <a:solidFill>
              <a:srgbClr val="4A35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3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snapshot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901952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one photo with the camera and run the same detection.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2554F"/>
          </a:solidFill>
          <a:ln w="12700">
            <a:solidFill>
              <a:srgbClr val="F255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5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YOLO AND WHY THREE FRUITS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FruitVision AI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5D1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64008" cy="457200"/>
          </a:xfrm>
          <a:prstGeom prst="rect">
            <a:avLst/>
          </a:prstGeom>
          <a:solidFill>
            <a:srgbClr val="F2554F"/>
          </a:solidFill>
          <a:ln w="12700">
            <a:solidFill>
              <a:srgbClr val="F255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3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YOLO?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901952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E2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finds each object and its location; classification cannot count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E2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efficient single-stage detector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E2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weights give a working prototype without training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5D1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54480"/>
            <a:ext cx="64008" cy="457200"/>
          </a:xfrm>
          <a:prstGeom prst="rect">
            <a:avLst/>
          </a:prstGeom>
          <a:solidFill>
            <a:srgbClr val="3B6FD8"/>
          </a:solidFill>
          <a:ln w="12700">
            <a:solidFill>
              <a:srgbClr val="3B6F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8348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3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only 3 fruits?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1901952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E2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model's classes are filtered to banana, apple, orange (IDs 46, 47, 49)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E2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fruits need a labeled dataset and fine-tuning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E2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was the full image, video and UI workflow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2554F"/>
          </a:solidFill>
          <a:ln w="12700">
            <a:solidFill>
              <a:srgbClr val="F255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5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AND COUNTING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to remember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FruitVision AI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4A35A6"/>
          </a:solidFill>
          <a:ln w="12700">
            <a:solidFill>
              <a:srgbClr val="4A35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087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860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AD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confidence threshold: detections below 25% are dropped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4A35A6"/>
          </a:solidFill>
          <a:ln w="12700">
            <a:solidFill>
              <a:srgbClr val="4A35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5087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2860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AD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count = maximum fruits seen in a single frame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4A35A6"/>
          </a:solidFill>
          <a:ln w="12700">
            <a:solidFill>
              <a:srgbClr val="4A35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5087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2860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AD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tracking, so unique fruits across a video are not counted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ECE9FB"/>
          </a:solidFill>
          <a:ln w="12700">
            <a:solidFill>
              <a:srgbClr val="CFCA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65760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pPr indent="0" marL="0">
              <a:buNone/>
            </a:pPr>
            <a:r>
              <a:rPr lang="en-US" sz="1400" dirty="0">
                <a:solidFill>
                  <a:srgbClr val="1E2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TP / (TP + FP)      </a:t>
            </a:r>
            <a:pPr indent="0" marL="0">
              <a:buNone/>
            </a:pPr>
            <a:r>
              <a:rPr lang="en-US" sz="1400" b="1" dirty="0">
                <a:solidFill>
                  <a:srgbClr val="4A3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pPr indent="0" marL="0">
              <a:buNone/>
            </a:pPr>
            <a:r>
              <a:rPr lang="en-US" sz="1400" dirty="0">
                <a:solidFill>
                  <a:srgbClr val="1E2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TP / (TP + FN)      </a:t>
            </a:r>
            <a:pPr indent="0" marL="0">
              <a:buNone/>
            </a:pPr>
            <a:r>
              <a:rPr lang="en-US" sz="1400" b="1" dirty="0">
                <a:solidFill>
                  <a:srgbClr val="4A3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</a:t>
            </a:r>
            <a:pPr indent="0" marL="0">
              <a:buNone/>
            </a:pPr>
            <a:r>
              <a:rPr lang="en-US" sz="1400" dirty="0">
                <a:solidFill>
                  <a:srgbClr val="1E2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overlap / union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2554F"/>
          </a:solidFill>
          <a:ln w="12700">
            <a:solidFill>
              <a:srgbClr val="F255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5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VIEW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future scope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FruitVision AI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5D1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64008" cy="457200"/>
          </a:xfrm>
          <a:prstGeom prst="rect">
            <a:avLst/>
          </a:prstGeom>
          <a:solidFill>
            <a:srgbClr val="F2554F"/>
          </a:solidFill>
          <a:ln w="12700">
            <a:solidFill>
              <a:srgbClr val="F255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3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901952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E2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fruit classes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E2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occluded, small or poorly lit fruit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E2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unique tracking in video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E2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measured accuracy yet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5D1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54480"/>
            <a:ext cx="64008" cy="457200"/>
          </a:xfrm>
          <a:prstGeom prst="rect">
            <a:avLst/>
          </a:prstGeom>
          <a:solidFill>
            <a:srgbClr val="3B6FD8"/>
          </a:solidFill>
          <a:ln w="12700">
            <a:solidFill>
              <a:srgbClr val="3B6F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8348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3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1901952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E2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more fruit categories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E2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precision, recall, mAP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E2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tracking / line counting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E2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history and database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E2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with logging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2554F"/>
          </a:solidFill>
          <a:ln w="12700">
            <a:solidFill>
              <a:srgbClr val="F255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774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AD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FruitVision AI detects and counts fruit using a pretrained YOLO26n model, wrapped in a simple Streamlit interface.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66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5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FruitVision AI</dc:title>
  <dc:subject>PptxGenJS Presentation</dc:subject>
  <dc:creator>FruitVision AI</dc:creator>
  <cp:lastModifiedBy>FruitVision AI</cp:lastModifiedBy>
  <cp:revision>1</cp:revision>
  <dcterms:created xsi:type="dcterms:W3CDTF">2026-10-18T20:18:32Z</dcterms:created>
  <dcterms:modified xsi:type="dcterms:W3CDTF">2026-10-18T20:18:32Z</dcterms:modified>
</cp:coreProperties>
</file>